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734A"/>
              </a:solidFill>
              <a:effectLst/>
            </c:spPr>
          </c:dPt>
          <c:dPt>
            <c:idx val="1"/>
            <c:bubble3D val="0"/>
            <c:spPr>
              <a:solidFill>
                <a:srgbClr val="0D7377"/>
              </a:solidFill>
              <a:effectLst/>
            </c:spPr>
          </c:dPt>
          <c:dPt>
            <c:idx val="2"/>
            <c:bubble3D val="0"/>
            <c:spPr>
              <a:solidFill>
                <a:srgbClr val="14A3A8"/>
              </a:solidFill>
              <a:effectLst/>
            </c:spPr>
          </c:dPt>
          <c:dPt>
            <c:idx val="3"/>
            <c:bubble3D val="0"/>
            <c:spPr>
              <a:solidFill>
                <a:srgbClr val="D4A843"/>
              </a:solidFill>
              <a:effectLst/>
            </c:spPr>
          </c:dPt>
          <c:dPt>
            <c:idx val="4"/>
            <c:bubble3D val="0"/>
            <c:spPr>
              <a:solidFill>
                <a:srgbClr val="7A9E9F"/>
              </a:solidFill>
              <a:effectLst/>
            </c:spPr>
          </c:dPt>
          <c:dPt>
            <c:idx val="5"/>
            <c:bubble3D val="0"/>
            <c:spPr>
              <a:solidFill>
                <a:srgbClr val="0F2B3C"/>
              </a:solidFill>
              <a:effectLst/>
            </c:spPr>
          </c:dPt>
          <c:dPt>
            <c:idx val="6"/>
            <c:bubble3D val="0"/>
            <c:spPr>
              <a:solidFill>
                <a:srgbClr val="E8EEE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F3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F3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F3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F3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F3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F3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A2F3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Publicité</c:v>
                </c:pt>
                <c:pt idx="1">
                  <c:v>Abonnements</c:v>
                </c:pt>
                <c:pt idx="2">
                  <c:v>Formation DPC</c:v>
                </c:pt>
                <c:pt idx="3">
                  <c:v>Opérations spé.</c:v>
                </c:pt>
                <c:pt idx="4">
                  <c:v>Événementiel</c:v>
                </c:pt>
                <c:pt idx="5">
                  <c:v>Prestations</c:v>
                </c:pt>
                <c:pt idx="6">
                  <c:v>Ouvrages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29.2</c:v>
                </c:pt>
                <c:pt idx="1">
                  <c:v>28.1</c:v>
                </c:pt>
                <c:pt idx="2">
                  <c:v>18.7</c:v>
                </c:pt>
                <c:pt idx="3">
                  <c:v>8.3</c:v>
                </c:pt>
                <c:pt idx="4">
                  <c:v>7.3</c:v>
                </c:pt>
                <c:pt idx="5">
                  <c:v>5.2</c:v>
                </c:pt>
                <c:pt idx="6">
                  <c:v>2.1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slideLayout" Target="../slideLayouts/slideLayout1.xml"/><Relationship Id="rId1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228600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MEDIA SANTÉ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Stratégie de Croissance</a:t>
            </a:r>
            <a:endParaRPr lang="en-US" sz="36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Abonnement 2026-2028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32004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l'éditeur de presse au hub de services médicaux intelligents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4348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— Candidature Direction Marketing Abonnement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44348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Février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marché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754880" y="10972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Opportunités et tensions du secteur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8046720" cy="502920"/>
          </a:xfrm>
          <a:prstGeom prst="rect">
            <a:avLst/>
          </a:prstGeom>
          <a:solidFill>
            <a:srgbClr val="E8EEE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19072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1719072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de GMS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1719072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Portefeuille, audience, écosystème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40864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2340864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340864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Paysage concurrentiel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2340864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et différenciation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62656"/>
            <a:ext cx="8046720" cy="502920"/>
          </a:xfrm>
          <a:prstGeom prst="rect">
            <a:avLst/>
          </a:prstGeom>
          <a:solidFill>
            <a:srgbClr val="E8EEE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62656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2962656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de croissance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54880" y="296265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axes pour 12-24 mois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84448"/>
            <a:ext cx="804672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31520" y="3584448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358444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d'exécution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754880" y="35844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wins, KPIs, roadmap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solidFill>
            <a:srgbClr val="E8EEEC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206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371600" y="42062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moi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754880" y="42062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Parcours et adéquation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— Stratégie Croissance Abonnement 2026-2028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Marché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sous tension qui crée des opportunités structurelles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2560320" cy="5486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73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+8,2%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médicale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Europe 2026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0" y="11430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83280" y="1143000"/>
            <a:ext cx="256032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1,4 Md€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6616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Économies imposées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médicament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1143000"/>
            <a:ext cx="25603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143000"/>
            <a:ext cx="2560320" cy="54864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13258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+5,4%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0" y="2011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marché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médicament FR/an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Conséquences pour l'abonnement médical</a:t>
            </a:r>
            <a:endParaRPr lang="en-US" sz="14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337560"/>
            <a:ext cx="201168" cy="201168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60120" y="3291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Budgets promos pharma en baisse → pression sur le modèle pub → l'abonnement devient vital</a:t>
            </a:r>
            <a:endParaRPr lang="en-US" sz="11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94760"/>
            <a:ext cx="201168" cy="20116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960120" y="37490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Démographie médicale dégradée → besoin de formation à distance → opportunité DPC/e-learning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251960"/>
            <a:ext cx="201168" cy="20116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960120" y="42062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France 2030 + Doctrine Numérique → obligation d'interopérabilité → avantage aux acteurs intégrés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— Stratégie Croissance Abonnement 2026-2028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 Forces de GMS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portefeuille rare : 7 marques, 150 événements, 15 000 articles, 12 000 e-learners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1554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Egora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481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 d'acquisition #1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17373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25 000 ex. hebdo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2M pages vues/mois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98 000 PS inscrits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97280"/>
            <a:ext cx="73152" cy="1554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LRP + LRP-MG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148132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Navire amiral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7373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31 000 ex. mensuels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15 000 articles en fonds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 DPC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28803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2880360"/>
            <a:ext cx="73152" cy="1554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Concours pluripro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264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ocean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5204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7 000 ex. mensuels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MSP/exercice coordonné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Monopole éditorial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88036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880360"/>
            <a:ext cx="73152" cy="1554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971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Événementiel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029200" y="32644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7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Ancrage terrain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52044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 événements/an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2 100 visiteurs JNMG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partenaires labo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— Stratégie Croissance Abonnement 2026-2028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Répartition du CA — 9,6 M€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L'abonnement + formation pèse déjà 47% : le socle de la croissance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43891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029200" y="1234440"/>
            <a:ext cx="228600" cy="2286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" name="Text 4"/>
          <p:cNvSpPr/>
          <p:nvPr/>
        </p:nvSpPr>
        <p:spPr>
          <a:xfrm>
            <a:off x="5394960" y="1188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Publicité — 29,2%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0" y="1618488"/>
            <a:ext cx="228600" cy="2286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6"/>
          <p:cNvSpPr/>
          <p:nvPr/>
        </p:nvSpPr>
        <p:spPr>
          <a:xfrm>
            <a:off x="5394960" y="1572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Abonnements — 28,1%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0" y="2002536"/>
            <a:ext cx="228600" cy="228600"/>
          </a:xfrm>
          <a:prstGeom prst="rect">
            <a:avLst/>
          </a:prstGeom>
          <a:solidFill>
            <a:srgbClr val="14A3A8"/>
          </a:solidFill>
          <a:ln/>
        </p:spPr>
      </p:sp>
      <p:sp>
        <p:nvSpPr>
          <p:cNvPr id="11" name="Text 8"/>
          <p:cNvSpPr/>
          <p:nvPr/>
        </p:nvSpPr>
        <p:spPr>
          <a:xfrm>
            <a:off x="5394960" y="19568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DPC — 18,7%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0" y="2386584"/>
            <a:ext cx="228600" cy="2286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3" name="Text 10"/>
          <p:cNvSpPr/>
          <p:nvPr/>
        </p:nvSpPr>
        <p:spPr>
          <a:xfrm>
            <a:off x="5394960" y="23408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spé. — 8,3%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029200" y="2770632"/>
            <a:ext cx="228600" cy="228600"/>
          </a:xfrm>
          <a:prstGeom prst="rect">
            <a:avLst/>
          </a:prstGeom>
          <a:solidFill>
            <a:srgbClr val="7A9E9F"/>
          </a:solidFill>
          <a:ln/>
        </p:spPr>
      </p:sp>
      <p:sp>
        <p:nvSpPr>
          <p:cNvPr id="15" name="Text 12"/>
          <p:cNvSpPr/>
          <p:nvPr/>
        </p:nvSpPr>
        <p:spPr>
          <a:xfrm>
            <a:off x="5394960" y="27249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Événementiel — 7,3%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029200" y="3154680"/>
            <a:ext cx="228600" cy="2286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17" name="Text 14"/>
          <p:cNvSpPr/>
          <p:nvPr/>
        </p:nvSpPr>
        <p:spPr>
          <a:xfrm>
            <a:off x="5394960" y="3108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Prestations — 5,2%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0" y="3538728"/>
            <a:ext cx="228600" cy="228600"/>
          </a:xfrm>
          <a:prstGeom prst="rect">
            <a:avLst/>
          </a:prstGeom>
          <a:solidFill>
            <a:srgbClr val="E8EEEC"/>
          </a:solidFill>
          <a:ln/>
        </p:spPr>
      </p:sp>
      <p:sp>
        <p:nvSpPr>
          <p:cNvPr id="19" name="Text 16"/>
          <p:cNvSpPr/>
          <p:nvPr/>
        </p:nvSpPr>
        <p:spPr>
          <a:xfrm>
            <a:off x="5394960" y="34930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Ouvrages — 2,1%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0" y="4023360"/>
            <a:ext cx="3657600" cy="6400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40233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porter Abo+DPC de 47% à 60% du CA en 24 mois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— Stratégie Croissance Abonnement 2026-2028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Paysage Concurrentiel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types de menaces, 1 positionnement unique à défendre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914400"/>
                <a:gridCol w="2286000"/>
                <a:gridCol w="1097280"/>
                <a:gridCol w="9144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Concurrent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 principale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GPS / Quotidien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 Médecin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Quotidienneté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85K PS/jour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172 €/an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Medscape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(WebMD)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 + personnalisation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 mondiale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87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Élevée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PulseLife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(ex-360 medics)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Disrupteur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 clinique temps réel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 lit du patient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Freemium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C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Influenceurs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 Hurker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Proximité, format court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Contournement éditorial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Gratuit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4A8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Modérée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8404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GMS : seul acteur à combiner profondeur scientifique + certification DPC + événementiel terrain. C'est un avantage compétitif durable — à condition de le rendre visible.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— Stratégie Croissance Abonnement 2026-2028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VISION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axes pour transformer le portefeuille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 moteur de croissance récurrente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651760" cy="219456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269748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48640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Membership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 a Service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Abo + DPC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forfait unique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74720" y="2560320"/>
            <a:ext cx="2651760" cy="219456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269748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474720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IA Propriétaire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AEO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65760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sourcé +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visibilité moteurs IA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0" y="2560320"/>
            <a:ext cx="2651760" cy="219456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69748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0080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400800" y="34747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Conquête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Exercice Coordonné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583680" y="4069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groupe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MSP &amp; Centres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Axe 1 : Membership as a Service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Fusionner abonnement et formation dans un forfait "Compétence Totale"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14300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143000"/>
            <a:ext cx="3749040" cy="411480"/>
          </a:xfrm>
          <a:prstGeom prst="rect">
            <a:avLst/>
          </a:prstGeom>
          <a:solidFill>
            <a:srgbClr val="7A9E9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43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— Silos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Abo LRP = 210-250 €/an (isolé)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DPC vendu séparément par SFP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423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JNMG = inscription à part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Pas de SSO inter-plateformes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Cross-sell quasi inexistant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143000"/>
            <a:ext cx="37490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143000"/>
            <a:ext cx="3749040" cy="4114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0" y="114300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— Bundle intégré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1719072"/>
            <a:ext cx="164592" cy="16459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5303520" y="16642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Forfait Compétence Totale 349 €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84832"/>
            <a:ext cx="164592" cy="16459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03520" y="20299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LRP + LRP-MG + 2 DPC/an inclus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450592"/>
            <a:ext cx="164592" cy="16459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303520" y="239572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Invitation JNMG incluse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816352"/>
            <a:ext cx="164592" cy="1645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303520" y="27614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unique groupe SFP Expansion</a:t>
            </a:r>
            <a:endParaRPr lang="en-US" sz="11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3182112"/>
            <a:ext cx="164592" cy="16459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03520" y="312724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Upselling naturel 12K e-learners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7" name="Text 20"/>
          <p:cNvSpPr/>
          <p:nvPr/>
        </p:nvSpPr>
        <p:spPr>
          <a:xfrm>
            <a:off x="731520" y="3886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estimé : </a:t>
            </a:r>
            <a:pPr indent="0" marL="0">
              <a:buNone/>
            </a:pPr>
            <a:r>
              <a:rPr lang="en-US" sz="13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 ARPU en passant de 230 € à 349 €  |  Barrière à la sortie x3  |  Churn cible &lt; 8%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29" name="Text 22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— Stratégie Croissance Abonnement 2026-2028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Axe 2 : IA Propriétaire &amp; AEO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15 000 articles en avantage concurrentiel technologique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solidFill>
            <a:srgbClr val="0F2B3C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17043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097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IA Propriétaire</a:t>
            </a:r>
            <a:endParaRPr lang="en-US" sz="14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664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réservé abonnés premium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240280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05840" y="2167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Réponses sourcées sur le corpus GMS</a:t>
            </a:r>
            <a:endParaRPr lang="en-US" sz="10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43200"/>
            <a:ext cx="164592" cy="16459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0584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: « Protocole suivi pathologie X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LRP 2024-2026 ? »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246120"/>
            <a:ext cx="164592" cy="16459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05840" y="3172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Différenciation vs PulseLife : sources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vérifiées + éditorial humain</a:t>
            </a:r>
            <a:endParaRPr lang="en-US" sz="10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3749040"/>
            <a:ext cx="164592" cy="16459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005840" y="3675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: raison N°1 de rester abonné</a:t>
            </a:r>
            <a:endParaRPr lang="en-US" sz="1050" dirty="0"/>
          </a:p>
        </p:txBody>
      </p:sp>
      <p:sp>
        <p:nvSpPr>
          <p:cNvPr id="19" name="Shape 11"/>
          <p:cNvSpPr/>
          <p:nvPr/>
        </p:nvSpPr>
        <p:spPr>
          <a:xfrm>
            <a:off x="4754880" y="1097280"/>
            <a:ext cx="3840480" cy="3291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2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1" name="Text 13"/>
          <p:cNvSpPr/>
          <p:nvPr/>
        </p:nvSpPr>
        <p:spPr>
          <a:xfrm>
            <a:off x="4937760" y="10972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Engine Optimization</a:t>
            </a:r>
            <a:endParaRPr lang="en-US" sz="1400" dirty="0"/>
          </a:p>
        </p:txBody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737360"/>
            <a:ext cx="164592" cy="164592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212080" y="166420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SEO de 2026 : être cité par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Perplexity, Claude, ChatGPT</a:t>
            </a:r>
            <a:endParaRPr lang="en-US" sz="10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240280"/>
            <a:ext cx="164592" cy="164592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212080" y="216712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structurées + métadonnées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sémantiques sur chaque article</a:t>
            </a:r>
            <a:endParaRPr lang="en-US" sz="1050" dirty="0"/>
          </a:p>
        </p:txBody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743200"/>
            <a:ext cx="164592" cy="164592"/>
          </a:xfrm>
          <a:prstGeom prst="rect">
            <a:avLst/>
          </a:prstGeom>
        </p:spPr>
      </p:pic>
      <p:sp>
        <p:nvSpPr>
          <p:cNvPr id="27" name="Text 16"/>
          <p:cNvSpPr/>
          <p:nvPr/>
        </p:nvSpPr>
        <p:spPr>
          <a:xfrm>
            <a:off x="5212080" y="26700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auteurs vérifiés = signal d'autorité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IA (E-E-A-T médical)</a:t>
            </a:r>
            <a:endParaRPr lang="en-US" sz="105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246120"/>
            <a:ext cx="164592" cy="164592"/>
          </a:xfrm>
          <a:prstGeom prst="rect">
            <a:avLst/>
          </a:prstGeom>
        </p:spPr>
      </p:pic>
      <p:sp>
        <p:nvSpPr>
          <p:cNvPr id="29" name="Text 17"/>
          <p:cNvSpPr/>
          <p:nvPr/>
        </p:nvSpPr>
        <p:spPr>
          <a:xfrm>
            <a:off x="5212080" y="317296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citation IA = tunnel vers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paywall → acquisition organique</a:t>
            </a:r>
            <a:endParaRPr lang="en-US" sz="1050" dirty="0"/>
          </a:p>
        </p:txBody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37760" y="3749040"/>
            <a:ext cx="164592" cy="164592"/>
          </a:xfrm>
          <a:prstGeom prst="rect">
            <a:avLst/>
          </a:prstGeom>
        </p:spPr>
      </p:pic>
      <p:sp>
        <p:nvSpPr>
          <p:cNvPr id="31" name="Text 18"/>
          <p:cNvSpPr/>
          <p:nvPr/>
        </p:nvSpPr>
        <p:spPr>
          <a:xfrm>
            <a:off x="5212080" y="367588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réduire le CPL de 377 $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300 $ grâce au trafic AEO</a:t>
            </a:r>
            <a:endParaRPr lang="en-US" sz="1050" dirty="0"/>
          </a:p>
        </p:txBody>
      </p:sp>
      <p:sp>
        <p:nvSpPr>
          <p:cNvPr id="32" name="Shape 1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3" name="Text 20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— Stratégie Croissance Abonnement 2026-2028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Axe 3 : Conquête Exercice Coordonné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Concours pluripro = blue ocean à monétiser via les contrats groupe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128016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L'opportunité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MSP et centres de santé explosent en France.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l'exercice isolé = besoin d'outils collectifs.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Concours pluripro est le seul magazine interpro dédié.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concurrent direct sur ce segment.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73152" cy="128016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143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stratégie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146304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l'abo individuel au contrat groupe.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: coordonnateurs de MSP.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: Concours pluripro + outils orga + DPC.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 la JexCo comme canal de prospection.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revenus estimé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804672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645920"/>
                <a:gridCol w="164592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unitaire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Cible 12 mois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 incrémental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B3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 individuel Concours pluripro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~120 €/an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nouveaux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Contrat groupe MSP (5-10 accès)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~600 €/an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structures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E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Compétence + Concours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~449 €/an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upgrades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 K€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~247 K€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377"/>
                    </a:solidFill>
                  </a:tcPr>
                </a:tc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16" name="Text 13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— Stratégie Croissance Abonnement 2026-2028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KPIs &amp; Objectifs à 24 mois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conversion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6,8%</a:t>
            </a:r>
            <a:endParaRPr lang="en-US" sz="18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182880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6596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96596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8,0%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383280" y="9144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338328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par Lead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38328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52044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52044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377 $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28800"/>
            <a:ext cx="274320" cy="2743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80060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80060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300 $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6217920" y="91440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217920" y="1005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 moyen/abonné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217920" y="1234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ARPU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635508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35508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~230 €</a:t>
            </a:r>
            <a:endParaRPr lang="en-US" sz="18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828800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635240" y="16002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7635240" y="1783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349 €</a:t>
            </a:r>
            <a:endParaRPr lang="en-US" sz="1800" dirty="0"/>
          </a:p>
        </p:txBody>
      </p:sp>
      <p:sp>
        <p:nvSpPr>
          <p:cNvPr id="28" name="Shape 23"/>
          <p:cNvSpPr/>
          <p:nvPr/>
        </p:nvSpPr>
        <p:spPr>
          <a:xfrm>
            <a:off x="548640" y="28346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54864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désabonnement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54864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8580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68580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~15%</a:t>
            </a:r>
            <a:endParaRPr lang="en-US" sz="18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749040"/>
            <a:ext cx="274320" cy="2743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196596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900" dirty="0"/>
          </a:p>
        </p:txBody>
      </p:sp>
      <p:sp>
        <p:nvSpPr>
          <p:cNvPr id="35" name="Text 29"/>
          <p:cNvSpPr/>
          <p:nvPr/>
        </p:nvSpPr>
        <p:spPr>
          <a:xfrm>
            <a:off x="196596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8%</a:t>
            </a:r>
            <a:endParaRPr lang="en-US" sz="1800" dirty="0"/>
          </a:p>
        </p:txBody>
      </p:sp>
      <p:sp>
        <p:nvSpPr>
          <p:cNvPr id="36" name="Shape 30"/>
          <p:cNvSpPr/>
          <p:nvPr/>
        </p:nvSpPr>
        <p:spPr>
          <a:xfrm>
            <a:off x="3383280" y="28346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Text 31"/>
          <p:cNvSpPr/>
          <p:nvPr/>
        </p:nvSpPr>
        <p:spPr>
          <a:xfrm>
            <a:off x="338328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du CA récurrent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338328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Abo+DPC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352044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352044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47%</a:t>
            </a:r>
            <a:endParaRPr lang="en-US" sz="1800" dirty="0"/>
          </a:p>
        </p:txBody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6280" y="3749040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80060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900" dirty="0"/>
          </a:p>
        </p:txBody>
      </p:sp>
      <p:sp>
        <p:nvSpPr>
          <p:cNvPr id="43" name="Text 36"/>
          <p:cNvSpPr/>
          <p:nvPr/>
        </p:nvSpPr>
        <p:spPr>
          <a:xfrm>
            <a:off x="480060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1800" dirty="0"/>
          </a:p>
        </p:txBody>
      </p:sp>
      <p:sp>
        <p:nvSpPr>
          <p:cNvPr id="44" name="Shape 37"/>
          <p:cNvSpPr/>
          <p:nvPr/>
        </p:nvSpPr>
        <p:spPr>
          <a:xfrm>
            <a:off x="6217920" y="2834640"/>
            <a:ext cx="2560320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5" name="Text 38"/>
          <p:cNvSpPr/>
          <p:nvPr/>
        </p:nvSpPr>
        <p:spPr>
          <a:xfrm>
            <a:off x="621792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trafic mobile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6217920" y="3154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000" dirty="0"/>
          </a:p>
        </p:txBody>
      </p:sp>
      <p:sp>
        <p:nvSpPr>
          <p:cNvPr id="47" name="Text 40"/>
          <p:cNvSpPr/>
          <p:nvPr/>
        </p:nvSpPr>
        <p:spPr>
          <a:xfrm>
            <a:off x="635508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635508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2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1800" dirty="0"/>
          </a:p>
        </p:txBody>
      </p:sp>
      <p:pic>
        <p:nvPicPr>
          <p:cNvPr id="4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3749040"/>
            <a:ext cx="274320" cy="274320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7635240" y="35204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7635240" y="37033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1800" dirty="0"/>
          </a:p>
        </p:txBody>
      </p:sp>
      <p:sp>
        <p:nvSpPr>
          <p:cNvPr id="52" name="Shape 4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53" name="Text 45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— Stratégie Croissance Abonnement 2026-2028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 24 mois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868680"/>
            <a:ext cx="2697480" cy="4572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868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Quick Wins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097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1-4</a:t>
            </a:r>
            <a:endParaRPr lang="en-US" sz="9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508760"/>
            <a:ext cx="146304" cy="1463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14356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CRM + segmentation base abonnés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1680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22960" y="19385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campagne anti-churn IA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514600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22960" y="24414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unifié sites GMS / SFP Expansion</a:t>
            </a:r>
            <a:endParaRPr lang="en-US" sz="10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017520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960" y="29443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Capsules vidéo résumés d'articles</a:t>
            </a:r>
            <a:endParaRPr lang="en-US" sz="10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520440"/>
            <a:ext cx="146304" cy="1463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22960" y="34472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Structuration données AEO</a:t>
            </a:r>
            <a:endParaRPr lang="en-US" sz="1000" dirty="0"/>
          </a:p>
        </p:txBody>
      </p:sp>
      <p:sp>
        <p:nvSpPr>
          <p:cNvPr id="18" name="Shape 11"/>
          <p:cNvSpPr/>
          <p:nvPr/>
        </p:nvSpPr>
        <p:spPr>
          <a:xfrm>
            <a:off x="3337560" y="86868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2"/>
          <p:cNvSpPr/>
          <p:nvPr/>
        </p:nvSpPr>
        <p:spPr>
          <a:xfrm>
            <a:off x="3337560" y="868680"/>
            <a:ext cx="2697480" cy="457200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0" name="Text 13"/>
          <p:cNvSpPr/>
          <p:nvPr/>
        </p:nvSpPr>
        <p:spPr>
          <a:xfrm>
            <a:off x="3474720" y="868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Construction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3474720" y="1097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5-12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1508760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703320" y="14356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forfait Compétence Totale</a:t>
            </a:r>
            <a:endParaRPr lang="en-US" sz="10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2011680"/>
            <a:ext cx="146304" cy="146304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3703320" y="19385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assistant IA propriétaire</a:t>
            </a:r>
            <a:endParaRPr lang="en-US" sz="1000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74720" y="2514600"/>
            <a:ext cx="146304" cy="146304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703320" y="24414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Contrats groupe MSP (pilote 50 structures)</a:t>
            </a:r>
            <a:endParaRPr lang="en-US" sz="10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3017520"/>
            <a:ext cx="146304" cy="146304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3703320" y="29443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tunnel Egora → conversion LRP</a:t>
            </a:r>
            <a:endParaRPr lang="en-US" sz="1000" dirty="0"/>
          </a:p>
        </p:txBody>
      </p:sp>
      <p:pic>
        <p:nvPicPr>
          <p:cNvPr id="3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4720" y="3520440"/>
            <a:ext cx="146304" cy="146304"/>
          </a:xfrm>
          <a:prstGeom prst="rect">
            <a:avLst/>
          </a:prstGeom>
        </p:spPr>
      </p:pic>
      <p:sp>
        <p:nvSpPr>
          <p:cNvPr id="31" name="Text 19"/>
          <p:cNvSpPr/>
          <p:nvPr/>
        </p:nvSpPr>
        <p:spPr>
          <a:xfrm>
            <a:off x="3703320" y="34472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mobile-first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6217920" y="868680"/>
            <a:ext cx="269748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21"/>
          <p:cNvSpPr/>
          <p:nvPr/>
        </p:nvSpPr>
        <p:spPr>
          <a:xfrm>
            <a:off x="6217920" y="868680"/>
            <a:ext cx="2697480" cy="4572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4" name="Text 22"/>
          <p:cNvSpPr/>
          <p:nvPr/>
        </p:nvSpPr>
        <p:spPr>
          <a:xfrm>
            <a:off x="6355080" y="868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Accélération</a:t>
            </a:r>
            <a:endParaRPr lang="en-US" sz="1100" dirty="0"/>
          </a:p>
        </p:txBody>
      </p:sp>
      <p:sp>
        <p:nvSpPr>
          <p:cNvPr id="35" name="Text 23"/>
          <p:cNvSpPr/>
          <p:nvPr/>
        </p:nvSpPr>
        <p:spPr>
          <a:xfrm>
            <a:off x="6355080" y="10972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E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Mois 13-24</a:t>
            </a:r>
            <a:endParaRPr lang="en-US" sz="900" dirty="0"/>
          </a:p>
        </p:txBody>
      </p:sp>
      <p:pic>
        <p:nvPicPr>
          <p:cNvPr id="3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55080" y="1508760"/>
            <a:ext cx="146304" cy="146304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6583680" y="14356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propriétaire en production</a:t>
            </a:r>
            <a:endParaRPr lang="en-US" sz="1000" dirty="0"/>
          </a:p>
        </p:txBody>
      </p:sp>
      <p:pic>
        <p:nvPicPr>
          <p:cNvPr id="3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2011680"/>
            <a:ext cx="146304" cy="146304"/>
          </a:xfrm>
          <a:prstGeom prst="rect">
            <a:avLst/>
          </a:prstGeom>
        </p:spPr>
      </p:pic>
      <p:sp>
        <p:nvSpPr>
          <p:cNvPr id="39" name="Text 25"/>
          <p:cNvSpPr/>
          <p:nvPr/>
        </p:nvSpPr>
        <p:spPr>
          <a:xfrm>
            <a:off x="6583680" y="19385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contrats groupe (200 MSP)</a:t>
            </a:r>
            <a:endParaRPr lang="en-US" sz="1000" dirty="0"/>
          </a:p>
        </p:txBody>
      </p:sp>
      <p:pic>
        <p:nvPicPr>
          <p:cNvPr id="4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5080" y="2514600"/>
            <a:ext cx="146304" cy="146304"/>
          </a:xfrm>
          <a:prstGeom prst="rect">
            <a:avLst/>
          </a:prstGeom>
        </p:spPr>
      </p:pic>
      <p:sp>
        <p:nvSpPr>
          <p:cNvPr id="41" name="Text 26"/>
          <p:cNvSpPr/>
          <p:nvPr/>
        </p:nvSpPr>
        <p:spPr>
          <a:xfrm>
            <a:off x="6583680" y="244144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pluriannuel avec incentive</a:t>
            </a:r>
            <a:endParaRPr lang="en-US" sz="1000" dirty="0"/>
          </a:p>
        </p:txBody>
      </p:sp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55080" y="3017520"/>
            <a:ext cx="146304" cy="146304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6583680" y="294436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ambassadeurs médecins</a:t>
            </a:r>
            <a:endParaRPr lang="en-US" sz="1000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55080" y="3520440"/>
            <a:ext cx="146304" cy="146304"/>
          </a:xfrm>
          <a:prstGeom prst="rect">
            <a:avLst/>
          </a:prstGeom>
        </p:spPr>
      </p:pic>
      <p:sp>
        <p:nvSpPr>
          <p:cNvPr id="45" name="Text 28"/>
          <p:cNvSpPr/>
          <p:nvPr/>
        </p:nvSpPr>
        <p:spPr>
          <a:xfrm>
            <a:off x="6583680" y="34472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 marchés européens francophones</a:t>
            </a:r>
            <a:endParaRPr lang="en-US" sz="1000" dirty="0"/>
          </a:p>
        </p:txBody>
      </p:sp>
      <p:sp>
        <p:nvSpPr>
          <p:cNvPr id="46" name="Shape 29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47" name="Text 30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— Stratégie Croissance Abonnement 2026-2028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B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moi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658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 ans en marketing abonnement B2C — les résultats parlent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256032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recrutement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abonnés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Lagardère Media News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097280"/>
            <a:ext cx="256032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+5,3%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56616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 cash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portefeuille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Stratégie repricing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097280"/>
            <a:ext cx="25603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97280"/>
            <a:ext cx="2560320" cy="54864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234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7 000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400800" y="17830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Abonnés JDNews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12 mois de zéro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from scratch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directement transférables</a:t>
            </a:r>
            <a:endParaRPr lang="en-US" sz="14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319272"/>
            <a:ext cx="164592" cy="16459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14400" y="3246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portefeuille multi-titres  </a:t>
            </a:r>
            <a:pPr indent="0" marL="0">
              <a:buNone/>
            </a:pPr>
            <a:r>
              <a:rPr lang="en-US" sz="105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JDD, JDNews = même logique que LRP, Egora, Concours pluripro</a:t>
            </a:r>
            <a:endParaRPr lang="en-US" sz="10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730752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914400" y="3657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Repricing &amp; unit economics  </a:t>
            </a:r>
            <a:pPr indent="0" marL="0">
              <a:buNone/>
            </a:pPr>
            <a:r>
              <a:rPr lang="en-US" sz="105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prix/élasticité, ARPU, LTV — exactement le défi GMS</a:t>
            </a:r>
            <a:endParaRPr lang="en-US" sz="105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142232"/>
            <a:ext cx="164592" cy="16459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14400" y="4069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Lancement from scratch  </a:t>
            </a:r>
            <a:pPr indent="0" marL="0">
              <a:buNone/>
            </a:pPr>
            <a:r>
              <a:rPr lang="en-US" sz="105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JDNews de 0 à 7K abonnés = même ADN que les nouveaux bundles à créer</a:t>
            </a:r>
            <a:endParaRPr lang="en-US" sz="105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553712"/>
            <a:ext cx="164592" cy="16459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14400" y="44805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tech &amp; IA  </a:t>
            </a:r>
            <a:pPr indent="0" marL="0">
              <a:buNone/>
            </a:pPr>
            <a:r>
              <a:rPr lang="en-US" sz="105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Claude Code, Python, Next.js — capacité à piloter le projet IA propriétaire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0" name="Text 24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— Stratégie Croissance Abonnement 2026-2028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731520"/>
            <a:ext cx="228600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CONSTRUISONS ENSEMBLE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futur de l'abonnement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médical intelligent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GMS a les actifs. Il faut maintenant la stratégie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transformer en croissance récurrente.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7A9E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suis prêt à la mettre en œuvre.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4348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Charles — Candidature Direction Marketing Abonnement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0" y="44348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Merci.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Global Media Santé - Stratégie de Croissance Abonnement 2026-2028</dc:title>
  <dc:subject>PptxGenJS Presentation</dc:subject>
  <dc:creator>Charles</dc:creator>
  <cp:lastModifiedBy>Charles</cp:lastModifiedBy>
  <cp:revision>1</cp:revision>
  <dcterms:created xsi:type="dcterms:W3CDTF">2026-02-23T13:08:56Z</dcterms:created>
  <dcterms:modified xsi:type="dcterms:W3CDTF">2026-02-23T13:08:56Z</dcterms:modified>
</cp:coreProperties>
</file>